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image" Target="../media/image1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notesSlide" Target="../notesSlides/notesSlide3.xml"/><Relationship Id="rId5" Type="http://schemas.openxmlformats.org/officeDocument/2006/relationships/tags" Target="../tags/tag5.xml"/><Relationship Id="rId10" Type="http://schemas.openxmlformats.org/officeDocument/2006/relationships/slideLayout" Target="../slideLayouts/slideLayout1.xml"/><Relationship Id="rId4" Type="http://schemas.openxmlformats.org/officeDocument/2006/relationships/tags" Target="../tags/tag4.xml"/><Relationship Id="rId9" Type="http://schemas.openxmlformats.org/officeDocument/2006/relationships/tags" Target="../tags/tag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17.xml"/><Relationship Id="rId3" Type="http://schemas.openxmlformats.org/officeDocument/2006/relationships/tags" Target="../tags/tag12.xml"/><Relationship Id="rId7" Type="http://schemas.openxmlformats.org/officeDocument/2006/relationships/tags" Target="../tags/tag16.xml"/><Relationship Id="rId12" Type="http://schemas.openxmlformats.org/officeDocument/2006/relationships/image" Target="../media/image5.png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tags" Target="../tags/tag15.xml"/><Relationship Id="rId11" Type="http://schemas.openxmlformats.org/officeDocument/2006/relationships/notesSlide" Target="../notesSlides/notesSlide7.xml"/><Relationship Id="rId5" Type="http://schemas.openxmlformats.org/officeDocument/2006/relationships/tags" Target="../tags/tag14.xml"/><Relationship Id="rId10" Type="http://schemas.openxmlformats.org/officeDocument/2006/relationships/slideLayout" Target="../slideLayouts/slideLayout1.xml"/><Relationship Id="rId4" Type="http://schemas.openxmlformats.org/officeDocument/2006/relationships/tags" Target="../tags/tag13.xml"/><Relationship Id="rId9" Type="http://schemas.openxmlformats.org/officeDocument/2006/relationships/tags" Target="../tags/tag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2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178562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entury Gothic" panose="020B0502020202020204" charset="0"/>
                <a:ea typeface="Calibri" panose="020F0502020204030204" pitchFamily="34" charset="-122"/>
                <a:cs typeface="Century Gothic" panose="020B0502020202020204" charset="0"/>
              </a:rPr>
              <a:t>DÉBRUITAGE D'IMAGE</a:t>
            </a:r>
            <a:endParaRPr lang="en-US" sz="4400" dirty="0">
              <a:latin typeface="Century Gothic" panose="020B0502020202020204" charset="0"/>
              <a:cs typeface="Century Gothic" panose="020B050202020202020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457200" y="251714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2C39A"/>
                </a:solidFill>
                <a:latin typeface="Century Gothic" panose="020B0502020202020204" charset="0"/>
                <a:ea typeface="Calibri" panose="020F0502020204030204" pitchFamily="34" charset="-122"/>
                <a:cs typeface="Century Gothic" panose="020B0502020202020204" charset="0"/>
              </a:rPr>
              <a:t>par Décomposition en Valeurs Singulières</a:t>
            </a:r>
            <a:endParaRPr lang="en-US" sz="2600" dirty="0">
              <a:latin typeface="Century Gothic" panose="020B0502020202020204" charset="0"/>
              <a:cs typeface="Century Gothic" panose="020B050202020202020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457200" y="3329305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>
                    <a:alpha val="70000"/>
                  </a:srgbClr>
                </a:solidFill>
                <a:latin typeface="Century Gothic" panose="020B0502020202020204" charset="0"/>
                <a:cs typeface="Century Gothic" panose="020B0502020202020204" charset="0"/>
              </a:rPr>
              <a:t>Janvier 2026</a:t>
            </a:r>
            <a:endParaRPr lang="en-US" sz="1400" dirty="0">
              <a:latin typeface="Century Gothic" panose="020B0502020202020204" charset="0"/>
              <a:cs typeface="Century Gothic" panose="020B05020202020202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entury Gothic" panose="020B0502020202020204" charset="0"/>
                <a:ea typeface="Calibri" panose="020F0502020204030204" pitchFamily="34" charset="-122"/>
                <a:cs typeface="Century Gothic" panose="020B0502020202020204" charset="0"/>
              </a:rPr>
              <a:t>CONTEXTE ET PROBLÉMATIQUE</a:t>
            </a:r>
            <a:endParaRPr lang="en-US" sz="2800" dirty="0">
              <a:latin typeface="Century Gothic" panose="020B0502020202020204" charset="0"/>
              <a:cs typeface="Century Gothic" panose="020B050202020202020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1143000" y="952500"/>
            <a:ext cx="6858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entury Gothic" panose="020B0502020202020204" charset="0"/>
                <a:cs typeface="Century Gothic" panose="020B0502020202020204" charset="0"/>
              </a:rPr>
              <a:t>Le Défi du Bruit dans les Images Numériques</a:t>
            </a:r>
            <a:endParaRPr lang="en-US" sz="2200" dirty="0">
              <a:latin typeface="Century Gothic" panose="020B0502020202020204" charset="0"/>
              <a:cs typeface="Century Gothic" panose="020B0502020202020204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40080" y="1771650"/>
            <a:ext cx="3657600" cy="2164715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4"/>
          <p:cNvSpPr/>
          <p:nvPr/>
        </p:nvSpPr>
        <p:spPr>
          <a:xfrm>
            <a:off x="631190" y="1764665"/>
            <a:ext cx="76200" cy="2172335"/>
          </a:xfrm>
          <a:prstGeom prst="rect">
            <a:avLst/>
          </a:prstGeom>
          <a:solidFill>
            <a:srgbClr val="02C39A"/>
          </a:solidFill>
        </p:spPr>
        <p:txBody>
          <a:bodyPr/>
          <a:lstStyle/>
          <a:p>
            <a:endParaRPr lang="fr-FR" altLang="en-US"/>
          </a:p>
        </p:txBody>
      </p:sp>
      <p:sp>
        <p:nvSpPr>
          <p:cNvPr id="8" name="Text 5"/>
          <p:cNvSpPr/>
          <p:nvPr/>
        </p:nvSpPr>
        <p:spPr>
          <a:xfrm>
            <a:off x="822960" y="1831340"/>
            <a:ext cx="32918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Century Gothic" panose="020B0502020202020204" charset="0"/>
                <a:cs typeface="Century Gothic" panose="020B0502020202020204" charset="0"/>
              </a:rPr>
              <a:t>Sources de Bruit</a:t>
            </a:r>
            <a:endParaRPr lang="en-US" sz="1800" dirty="0">
              <a:latin typeface="Century Gothic" panose="020B0502020202020204" charset="0"/>
              <a:cs typeface="Century Gothic" panose="020B050202020202020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822960" y="2284095"/>
            <a:ext cx="32918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entury Gothic" panose="020B0502020202020204" charset="0"/>
                <a:cs typeface="Century Gothic" panose="020B0502020202020204" charset="0"/>
              </a:rPr>
              <a:t>•  Limitations des capteurs photographiques</a:t>
            </a:r>
            <a:endParaRPr lang="en-US" sz="1400" dirty="0">
              <a:latin typeface="Century Gothic" panose="020B0502020202020204" charset="0"/>
              <a:cs typeface="Century Gothic" panose="020B050202020202020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822960" y="2823845"/>
            <a:ext cx="32918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entury Gothic" panose="020B0502020202020204" charset="0"/>
                <a:cs typeface="Century Gothic" panose="020B0502020202020204" charset="0"/>
              </a:rPr>
              <a:t>•  Conditions d'acquisition défavorables</a:t>
            </a:r>
            <a:endParaRPr lang="en-US" sz="1400" dirty="0">
              <a:latin typeface="Century Gothic" panose="020B0502020202020204" charset="0"/>
              <a:cs typeface="Century Gothic" panose="020B050202020202020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822960" y="3363595"/>
            <a:ext cx="32918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entury Gothic" panose="020B0502020202020204" charset="0"/>
                <a:cs typeface="Century Gothic" panose="020B0502020202020204" charset="0"/>
              </a:rPr>
              <a:t>•  Perturbations lors de la transmission</a:t>
            </a:r>
            <a:endParaRPr lang="en-US" sz="1400" dirty="0">
              <a:latin typeface="Century Gothic" panose="020B0502020202020204" charset="0"/>
              <a:cs typeface="Century Gothic" panose="020B0502020202020204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4754880" y="1771650"/>
            <a:ext cx="3657600" cy="2164715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 altLang="en-US"/>
          </a:p>
        </p:txBody>
      </p:sp>
      <p:sp>
        <p:nvSpPr>
          <p:cNvPr id="13" name="Shape 10"/>
          <p:cNvSpPr/>
          <p:nvPr/>
        </p:nvSpPr>
        <p:spPr>
          <a:xfrm flipH="1">
            <a:off x="4740275" y="1764665"/>
            <a:ext cx="90805" cy="2172335"/>
          </a:xfrm>
          <a:prstGeom prst="rect">
            <a:avLst/>
          </a:prstGeom>
          <a:solidFill>
            <a:srgbClr val="02C39A"/>
          </a:solidFill>
        </p:spPr>
        <p:txBody>
          <a:bodyPr/>
          <a:lstStyle/>
          <a:p>
            <a:endParaRPr lang="fr-FR"/>
          </a:p>
        </p:txBody>
      </p:sp>
      <p:sp>
        <p:nvSpPr>
          <p:cNvPr id="14" name="Text 11"/>
          <p:cNvSpPr/>
          <p:nvPr/>
        </p:nvSpPr>
        <p:spPr>
          <a:xfrm>
            <a:off x="4937760" y="1831340"/>
            <a:ext cx="32918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Century Gothic" panose="020B0502020202020204" charset="0"/>
                <a:cs typeface="Century Gothic" panose="020B0502020202020204" charset="0"/>
              </a:rPr>
              <a:t>Conséquences</a:t>
            </a:r>
            <a:endParaRPr lang="en-US" sz="1800" dirty="0">
              <a:latin typeface="Century Gothic" panose="020B0502020202020204" charset="0"/>
              <a:cs typeface="Century Gothic" panose="020B0502020202020204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4937760" y="2288540"/>
            <a:ext cx="32918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entury Gothic" panose="020B0502020202020204" charset="0"/>
                <a:cs typeface="Century Gothic" panose="020B0502020202020204" charset="0"/>
              </a:rPr>
              <a:t>•  Dégradation de la qualité visuelle</a:t>
            </a:r>
            <a:endParaRPr lang="en-US" sz="1400" dirty="0">
              <a:latin typeface="Century Gothic" panose="020B0502020202020204" charset="0"/>
              <a:cs typeface="Century Gothic" panose="020B0502020202020204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4937760" y="2823845"/>
            <a:ext cx="32918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entury Gothic" panose="020B0502020202020204" charset="0"/>
                <a:cs typeface="Century Gothic" panose="020B0502020202020204" charset="0"/>
              </a:rPr>
              <a:t>•  Compromission des traitements ultérieurs</a:t>
            </a:r>
            <a:endParaRPr lang="en-US" sz="1400" dirty="0">
              <a:latin typeface="Century Gothic" panose="020B0502020202020204" charset="0"/>
              <a:cs typeface="Century Gothic" panose="020B0502020202020204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4937760" y="3359150"/>
            <a:ext cx="32918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entury Gothic" panose="020B0502020202020204" charset="0"/>
                <a:cs typeface="Century Gothic" panose="020B0502020202020204" charset="0"/>
              </a:rPr>
              <a:t>•  Difficulté en segmentation et reconnaissance</a:t>
            </a:r>
            <a:endParaRPr lang="en-US" sz="1400" dirty="0">
              <a:latin typeface="Century Gothic" panose="020B0502020202020204" charset="0"/>
              <a:cs typeface="Century Gothic" panose="020B0502020202020204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640080" y="4119245"/>
            <a:ext cx="78638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28090"/>
                </a:solidFill>
                <a:latin typeface="Century Gothic" panose="020B0502020202020204" charset="0"/>
                <a:cs typeface="Century Gothic" panose="020B0502020202020204" charset="0"/>
              </a:rPr>
              <a:t>→ Nécessité d'une méthode mathématique robuste pour le débruitage</a:t>
            </a:r>
            <a:endParaRPr lang="en-US" sz="1500" dirty="0">
              <a:latin typeface="Century Gothic" panose="020B0502020202020204" charset="0"/>
              <a:cs typeface="Century Gothic" panose="020B05020202020202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entury Gothic" panose="020B0502020202020204" charset="0"/>
                <a:ea typeface="Calibri" panose="020F0502020204030204" pitchFamily="34" charset="-122"/>
                <a:cs typeface="Century Gothic" panose="020B0502020202020204" charset="0"/>
              </a:rPr>
              <a:t>FONDEMENTS THÉORIQUES</a:t>
            </a:r>
            <a:endParaRPr lang="en-US" sz="2800" dirty="0">
              <a:latin typeface="Century Gothic" panose="020B0502020202020204" charset="0"/>
              <a:cs typeface="Century Gothic" panose="020B050202020202020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8638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28090"/>
                </a:solidFill>
                <a:latin typeface="Century Gothic" panose="020B0502020202020204" charset="0"/>
                <a:cs typeface="Century Gothic" panose="020B0502020202020204" charset="0"/>
              </a:rPr>
              <a:t>Décomposition en Valeurs Singulières (SVD)</a:t>
            </a:r>
            <a:endParaRPr lang="en-US" sz="2400" dirty="0">
              <a:latin typeface="Century Gothic" panose="020B0502020202020204" charset="0"/>
              <a:cs typeface="Century Gothic" panose="020B050202020202020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828800" y="1593850"/>
            <a:ext cx="5486400" cy="731520"/>
          </a:xfrm>
          <a:prstGeom prst="rect">
            <a:avLst/>
          </a:prstGeom>
          <a:solidFill>
            <a:srgbClr val="00A896">
              <a:alpha val="80000"/>
            </a:srgbClr>
          </a:solidFill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1828800" y="1586230"/>
            <a:ext cx="54864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E29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 = U Σ Vᵀ</a:t>
            </a:r>
            <a:endParaRPr lang="en-US" sz="3600" dirty="0"/>
          </a:p>
        </p:txBody>
      </p:sp>
      <p:sp>
        <p:nvSpPr>
          <p:cNvPr id="7" name="Shape 5"/>
          <p:cNvSpPr/>
          <p:nvPr>
            <p:custDataLst>
              <p:tags r:id="rId1"/>
            </p:custDataLst>
          </p:nvPr>
        </p:nvSpPr>
        <p:spPr>
          <a:xfrm>
            <a:off x="914400" y="2651760"/>
            <a:ext cx="219456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>
            <p:custDataLst>
              <p:tags r:id="rId2"/>
            </p:custDataLst>
          </p:nvPr>
        </p:nvSpPr>
        <p:spPr>
          <a:xfrm>
            <a:off x="914400" y="2743200"/>
            <a:ext cx="2194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2809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U</a:t>
            </a:r>
            <a:endParaRPr lang="en-US" sz="3200" dirty="0"/>
          </a:p>
        </p:txBody>
      </p:sp>
      <p:sp>
        <p:nvSpPr>
          <p:cNvPr id="9" name="Text 7"/>
          <p:cNvSpPr/>
          <p:nvPr>
            <p:custDataLst>
              <p:tags r:id="rId3"/>
            </p:custDataLst>
          </p:nvPr>
        </p:nvSpPr>
        <p:spPr>
          <a:xfrm>
            <a:off x="1005840" y="3200400"/>
            <a:ext cx="2011680" cy="7315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entury Gothic" panose="020B0502020202020204" charset="0"/>
                <a:cs typeface="Century Gothic" panose="020B0502020202020204" charset="0"/>
              </a:rPr>
              <a:t>Vecteurs singuliers</a:t>
            </a:r>
            <a:endParaRPr lang="en-US" sz="1200" dirty="0">
              <a:latin typeface="Century Gothic" panose="020B0502020202020204" charset="0"/>
              <a:cs typeface="Century Gothic" panose="020B0502020202020204" charset="0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entury Gothic" panose="020B0502020202020204" charset="0"/>
                <a:cs typeface="Century Gothic" panose="020B0502020202020204" charset="0"/>
              </a:rPr>
              <a:t>à gauche</a:t>
            </a:r>
            <a:endParaRPr lang="en-US" sz="1200" dirty="0">
              <a:latin typeface="Century Gothic" panose="020B0502020202020204" charset="0"/>
              <a:cs typeface="Century Gothic" panose="020B0502020202020204" charset="0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entury Gothic" panose="020B0502020202020204" charset="0"/>
                <a:cs typeface="Century Gothic" panose="020B0502020202020204" charset="0"/>
              </a:rPr>
              <a:t>(m × m)</a:t>
            </a:r>
            <a:endParaRPr lang="en-US" sz="1200" dirty="0">
              <a:latin typeface="Century Gothic" panose="020B0502020202020204" charset="0"/>
              <a:cs typeface="Century Gothic" panose="020B0502020202020204" charset="0"/>
            </a:endParaRPr>
          </a:p>
        </p:txBody>
      </p:sp>
      <p:sp>
        <p:nvSpPr>
          <p:cNvPr id="10" name="Shape 8"/>
          <p:cNvSpPr/>
          <p:nvPr>
            <p:custDataLst>
              <p:tags r:id="rId4"/>
            </p:custDataLst>
          </p:nvPr>
        </p:nvSpPr>
        <p:spPr>
          <a:xfrm>
            <a:off x="3383280" y="2651760"/>
            <a:ext cx="219456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>
            <p:custDataLst>
              <p:tags r:id="rId5"/>
            </p:custDataLst>
          </p:nvPr>
        </p:nvSpPr>
        <p:spPr>
          <a:xfrm>
            <a:off x="3383280" y="2743200"/>
            <a:ext cx="2194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2809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Σ</a:t>
            </a:r>
            <a:endParaRPr lang="en-US" sz="3200" dirty="0"/>
          </a:p>
        </p:txBody>
      </p:sp>
      <p:sp>
        <p:nvSpPr>
          <p:cNvPr id="12" name="Text 10"/>
          <p:cNvSpPr/>
          <p:nvPr>
            <p:custDataLst>
              <p:tags r:id="rId6"/>
            </p:custDataLst>
          </p:nvPr>
        </p:nvSpPr>
        <p:spPr>
          <a:xfrm>
            <a:off x="3474720" y="3200400"/>
            <a:ext cx="2011680" cy="7315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entury Gothic" panose="020B0502020202020204" charset="0"/>
                <a:cs typeface="Century Gothic" panose="020B0502020202020204" charset="0"/>
              </a:rPr>
              <a:t>Valeurs singulières</a:t>
            </a:r>
            <a:endParaRPr lang="en-US" sz="1200" dirty="0">
              <a:latin typeface="Century Gothic" panose="020B0502020202020204" charset="0"/>
              <a:cs typeface="Century Gothic" panose="020B0502020202020204" charset="0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entury Gothic" panose="020B0502020202020204" charset="0"/>
                <a:cs typeface="Century Gothic" panose="020B0502020202020204" charset="0"/>
              </a:rPr>
              <a:t>σ₁ ≥ σ₂ ≥ ... ≥ σᵣ</a:t>
            </a:r>
            <a:endParaRPr lang="en-US" sz="1200" dirty="0">
              <a:latin typeface="Century Gothic" panose="020B0502020202020204" charset="0"/>
              <a:cs typeface="Century Gothic" panose="020B0502020202020204" charset="0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entury Gothic" panose="020B0502020202020204" charset="0"/>
                <a:cs typeface="Century Gothic" panose="020B0502020202020204" charset="0"/>
              </a:rPr>
              <a:t>(m × n)</a:t>
            </a:r>
            <a:endParaRPr lang="en-US" sz="1200" dirty="0">
              <a:latin typeface="Century Gothic" panose="020B0502020202020204" charset="0"/>
              <a:cs typeface="Century Gothic" panose="020B0502020202020204" charset="0"/>
            </a:endParaRPr>
          </a:p>
        </p:txBody>
      </p:sp>
      <p:sp>
        <p:nvSpPr>
          <p:cNvPr id="13" name="Shape 11"/>
          <p:cNvSpPr/>
          <p:nvPr>
            <p:custDataLst>
              <p:tags r:id="rId7"/>
            </p:custDataLst>
          </p:nvPr>
        </p:nvSpPr>
        <p:spPr>
          <a:xfrm>
            <a:off x="5852160" y="2651760"/>
            <a:ext cx="219456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>
            <p:custDataLst>
              <p:tags r:id="rId8"/>
            </p:custDataLst>
          </p:nvPr>
        </p:nvSpPr>
        <p:spPr>
          <a:xfrm>
            <a:off x="5852160" y="2743200"/>
            <a:ext cx="2194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2809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Vᵀ</a:t>
            </a:r>
            <a:endParaRPr lang="en-US" sz="3200" dirty="0"/>
          </a:p>
        </p:txBody>
      </p:sp>
      <p:sp>
        <p:nvSpPr>
          <p:cNvPr id="15" name="Text 13"/>
          <p:cNvSpPr/>
          <p:nvPr>
            <p:custDataLst>
              <p:tags r:id="rId9"/>
            </p:custDataLst>
          </p:nvPr>
        </p:nvSpPr>
        <p:spPr>
          <a:xfrm>
            <a:off x="5943600" y="3200400"/>
            <a:ext cx="2011680" cy="7315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entury Gothic" panose="020B0502020202020204" charset="0"/>
                <a:cs typeface="Century Gothic" panose="020B0502020202020204" charset="0"/>
              </a:rPr>
              <a:t>Vecteurs singuliers</a:t>
            </a:r>
            <a:endParaRPr lang="en-US" sz="1200" dirty="0">
              <a:latin typeface="Century Gothic" panose="020B0502020202020204" charset="0"/>
              <a:cs typeface="Century Gothic" panose="020B0502020202020204" charset="0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entury Gothic" panose="020B0502020202020204" charset="0"/>
                <a:cs typeface="Century Gothic" panose="020B0502020202020204" charset="0"/>
              </a:rPr>
              <a:t>à droite</a:t>
            </a:r>
            <a:endParaRPr lang="en-US" sz="1200" dirty="0">
              <a:latin typeface="Century Gothic" panose="020B0502020202020204" charset="0"/>
              <a:cs typeface="Century Gothic" panose="020B0502020202020204" charset="0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entury Gothic" panose="020B0502020202020204" charset="0"/>
                <a:cs typeface="Century Gothic" panose="020B0502020202020204" charset="0"/>
              </a:rPr>
              <a:t>(n × n)</a:t>
            </a:r>
            <a:endParaRPr lang="en-US" sz="1200" dirty="0">
              <a:latin typeface="Century Gothic" panose="020B0502020202020204" charset="0"/>
              <a:cs typeface="Century Gothic" panose="020B0502020202020204" charset="0"/>
            </a:endParaRPr>
          </a:p>
        </p:txBody>
      </p:sp>
      <p:grpSp>
        <p:nvGrpSpPr>
          <p:cNvPr id="19" name="Grouper 18"/>
          <p:cNvGrpSpPr/>
          <p:nvPr/>
        </p:nvGrpSpPr>
        <p:grpSpPr>
          <a:xfrm>
            <a:off x="1160780" y="4119245"/>
            <a:ext cx="7160260" cy="640080"/>
            <a:chOff x="1828" y="6624"/>
            <a:chExt cx="11276" cy="1008"/>
          </a:xfrm>
        </p:grpSpPr>
        <p:pic>
          <p:nvPicPr>
            <p:cNvPr id="17" name="Image 0" descr="preencoded.pn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828" y="6923"/>
              <a:ext cx="388" cy="410"/>
            </a:xfrm>
            <a:prstGeom prst="rect">
              <a:avLst/>
            </a:prstGeom>
          </p:spPr>
        </p:pic>
        <p:sp>
          <p:nvSpPr>
            <p:cNvPr id="18" name="Text 15"/>
            <p:cNvSpPr/>
            <p:nvPr/>
          </p:nvSpPr>
          <p:spPr>
            <a:xfrm>
              <a:off x="2304" y="6624"/>
              <a:ext cx="10800" cy="1008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E293B"/>
                  </a:solidFill>
                  <a:latin typeface="Century Gothic" panose="020B0502020202020204" charset="0"/>
                  <a:cs typeface="Century Gothic" panose="020B0502020202020204" charset="0"/>
                </a:rPr>
                <a:t>Principe : Les grandes valeurs singulières = signal | Les petites valeurs = bruit</a:t>
              </a:r>
              <a:endParaRPr lang="en-US" sz="1600" dirty="0">
                <a:latin typeface="Century Gothic" panose="020B0502020202020204" charset="0"/>
                <a:cs typeface="Century Gothic" panose="020B0502020202020204" charset="0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entury Gothic" panose="020B0502020202020204" charset="0"/>
                <a:ea typeface="Calibri" panose="020F0502020204030204" pitchFamily="34" charset="-122"/>
                <a:cs typeface="Century Gothic" panose="020B0502020202020204" charset="0"/>
              </a:rPr>
              <a:t>MÉTHODOLOGIE</a:t>
            </a:r>
            <a:endParaRPr lang="en-US" sz="2800" dirty="0">
              <a:latin typeface="Century Gothic" panose="020B0502020202020204" charset="0"/>
              <a:cs typeface="Century Gothic" panose="020B050202020202020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60120" y="1097280"/>
            <a:ext cx="548640" cy="548640"/>
          </a:xfrm>
          <a:prstGeom prst="ellipse">
            <a:avLst/>
          </a:prstGeom>
          <a:solidFill>
            <a:srgbClr val="028090"/>
          </a:solidFill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960120" y="1097280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1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600200" y="1371600"/>
            <a:ext cx="502920" cy="0"/>
          </a:xfrm>
          <a:prstGeom prst="line">
            <a:avLst/>
          </a:prstGeom>
          <a:noFill/>
          <a:ln w="38100">
            <a:solidFill>
              <a:srgbClr val="00A896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155448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1371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8090"/>
                </a:solidFill>
                <a:latin typeface="Century Gothic" panose="020B0502020202020204" charset="0"/>
                <a:cs typeface="Century Gothic" panose="020B0502020202020204" charset="0"/>
              </a:rPr>
              <a:t>Ajout de Bruit</a:t>
            </a:r>
            <a:endParaRPr lang="en-US" sz="1400" dirty="0">
              <a:latin typeface="Century Gothic" panose="020B0502020202020204" charset="0"/>
              <a:cs typeface="Century Gothic" panose="020B050202020202020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548640" y="2468880"/>
            <a:ext cx="1371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entury Gothic" panose="020B0502020202020204" charset="0"/>
                <a:cs typeface="Century Gothic" panose="020B0502020202020204" charset="0"/>
              </a:rPr>
              <a:t>Gaussien μ=0, σ=0.05</a:t>
            </a:r>
            <a:endParaRPr lang="en-US" sz="1100" dirty="0">
              <a:latin typeface="Century Gothic" panose="020B0502020202020204" charset="0"/>
              <a:cs typeface="Century Gothic" panose="020B050202020202020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697480" y="1097280"/>
            <a:ext cx="548640" cy="548640"/>
          </a:xfrm>
          <a:prstGeom prst="ellipse">
            <a:avLst/>
          </a:prstGeom>
          <a:solidFill>
            <a:srgbClr val="028090"/>
          </a:solidFill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2697480" y="1097280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2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3337560" y="1371600"/>
            <a:ext cx="502920" cy="0"/>
          </a:xfrm>
          <a:prstGeom prst="line">
            <a:avLst/>
          </a:prstGeom>
          <a:noFill/>
          <a:ln w="38100">
            <a:solidFill>
              <a:srgbClr val="00A896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2194560" y="1920240"/>
            <a:ext cx="155448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2202180" y="2011680"/>
            <a:ext cx="1537335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8090"/>
                </a:solidFill>
                <a:latin typeface="Century Gothic" panose="020B0502020202020204" charset="0"/>
                <a:cs typeface="Century Gothic" panose="020B0502020202020204" charset="0"/>
              </a:rPr>
              <a:t>Séparation RGB</a:t>
            </a:r>
            <a:endParaRPr lang="en-US" sz="1400" dirty="0">
              <a:latin typeface="Century Gothic" panose="020B0502020202020204" charset="0"/>
              <a:cs typeface="Century Gothic" panose="020B050202020202020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286000" y="2468880"/>
            <a:ext cx="1371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entury Gothic" panose="020B0502020202020204" charset="0"/>
                <a:cs typeface="Century Gothic" panose="020B0502020202020204" charset="0"/>
              </a:rPr>
              <a:t>3 canaux indépendants</a:t>
            </a:r>
            <a:endParaRPr lang="en-US" sz="1100" dirty="0">
              <a:latin typeface="Century Gothic" panose="020B0502020202020204" charset="0"/>
              <a:cs typeface="Century Gothic" panose="020B050202020202020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434840" y="1097280"/>
            <a:ext cx="548640" cy="548640"/>
          </a:xfrm>
          <a:prstGeom prst="ellipse">
            <a:avLst/>
          </a:prstGeom>
          <a:solidFill>
            <a:srgbClr val="028090"/>
          </a:solidFill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4434840" y="1097280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3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5074920" y="1371600"/>
            <a:ext cx="502920" cy="0"/>
          </a:xfrm>
          <a:prstGeom prst="line">
            <a:avLst/>
          </a:prstGeom>
          <a:noFill/>
          <a:ln w="38100">
            <a:solidFill>
              <a:srgbClr val="00A896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3931920" y="1920240"/>
            <a:ext cx="155448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3947160" y="2011680"/>
            <a:ext cx="15341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8090"/>
                </a:solidFill>
                <a:latin typeface="Century Gothic" panose="020B0502020202020204" charset="0"/>
                <a:cs typeface="Century Gothic" panose="020B0502020202020204" charset="0"/>
              </a:rPr>
              <a:t>SVD par Canal</a:t>
            </a:r>
            <a:endParaRPr lang="en-US" sz="1400" dirty="0">
              <a:latin typeface="Century Gothic" panose="020B0502020202020204" charset="0"/>
              <a:cs typeface="Century Gothic" panose="020B050202020202020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023360" y="2468880"/>
            <a:ext cx="1371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entury Gothic" panose="020B0502020202020204" charset="0"/>
                <a:cs typeface="Century Gothic" panose="020B0502020202020204" charset="0"/>
              </a:rPr>
              <a:t>A = U Σ Vᵀ</a:t>
            </a:r>
            <a:endParaRPr lang="en-US" sz="1100" dirty="0">
              <a:latin typeface="Century Gothic" panose="020B0502020202020204" charset="0"/>
              <a:cs typeface="Century Gothic" panose="020B050202020202020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172200" y="1097280"/>
            <a:ext cx="548640" cy="548640"/>
          </a:xfrm>
          <a:prstGeom prst="ellipse">
            <a:avLst/>
          </a:prstGeom>
          <a:solidFill>
            <a:srgbClr val="028090"/>
          </a:solidFill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6172200" y="1097280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4</a:t>
            </a:r>
            <a:endParaRPr lang="en-US" sz="2800" dirty="0"/>
          </a:p>
        </p:txBody>
      </p:sp>
      <p:sp>
        <p:nvSpPr>
          <p:cNvPr id="24" name="Shape 22"/>
          <p:cNvSpPr/>
          <p:nvPr/>
        </p:nvSpPr>
        <p:spPr>
          <a:xfrm>
            <a:off x="6812280" y="1371600"/>
            <a:ext cx="502920" cy="0"/>
          </a:xfrm>
          <a:prstGeom prst="line">
            <a:avLst/>
          </a:prstGeom>
          <a:noFill/>
          <a:ln w="38100">
            <a:solidFill>
              <a:srgbClr val="00A896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5669280" y="1920240"/>
            <a:ext cx="155448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5760720" y="2011680"/>
            <a:ext cx="1371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8090"/>
                </a:solidFill>
                <a:latin typeface="Century Gothic" panose="020B0502020202020204" charset="0"/>
                <a:cs typeface="Century Gothic" panose="020B0502020202020204" charset="0"/>
              </a:rPr>
              <a:t>Troncature</a:t>
            </a:r>
            <a:endParaRPr lang="en-US" sz="1400" dirty="0">
              <a:latin typeface="Century Gothic" panose="020B0502020202020204" charset="0"/>
              <a:cs typeface="Century Gothic" panose="020B050202020202020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760720" y="2468880"/>
            <a:ext cx="1371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entury Gothic" panose="020B0502020202020204" charset="0"/>
                <a:cs typeface="Century Gothic" panose="020B0502020202020204" charset="0"/>
              </a:rPr>
              <a:t>Conservation de k valeurs</a:t>
            </a:r>
            <a:endParaRPr lang="en-US" sz="1100" dirty="0">
              <a:latin typeface="Century Gothic" panose="020B0502020202020204" charset="0"/>
              <a:cs typeface="Century Gothic" panose="020B0502020202020204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7909560" y="1097280"/>
            <a:ext cx="548640" cy="548640"/>
          </a:xfrm>
          <a:prstGeom prst="ellipse">
            <a:avLst/>
          </a:prstGeom>
          <a:solidFill>
            <a:srgbClr val="028090"/>
          </a:solidFill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7909560" y="1097280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5</a:t>
            </a:r>
            <a:endParaRPr lang="en-US" sz="2800" dirty="0"/>
          </a:p>
        </p:txBody>
      </p:sp>
      <p:sp>
        <p:nvSpPr>
          <p:cNvPr id="30" name="Shape 28"/>
          <p:cNvSpPr/>
          <p:nvPr/>
        </p:nvSpPr>
        <p:spPr>
          <a:xfrm>
            <a:off x="7406640" y="1920240"/>
            <a:ext cx="155448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7406640" y="2011680"/>
            <a:ext cx="1522095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8090"/>
                </a:solidFill>
                <a:latin typeface="Century Gothic" panose="020B0502020202020204" charset="0"/>
                <a:cs typeface="Century Gothic" panose="020B0502020202020204" charset="0"/>
              </a:rPr>
              <a:t>Reconstruction</a:t>
            </a:r>
            <a:endParaRPr lang="en-US" sz="1400" dirty="0">
              <a:latin typeface="Century Gothic" panose="020B0502020202020204" charset="0"/>
              <a:cs typeface="Century Gothic" panose="020B050202020202020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7498080" y="2468880"/>
            <a:ext cx="1371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entury Gothic" panose="020B0502020202020204" charset="0"/>
                <a:cs typeface="Century Gothic" panose="020B0502020202020204" charset="0"/>
              </a:rPr>
              <a:t>Aₖ = U Σₖ Vᵀ</a:t>
            </a:r>
            <a:endParaRPr lang="en-US" sz="1100" dirty="0">
              <a:latin typeface="Century Gothic" panose="020B0502020202020204" charset="0"/>
              <a:cs typeface="Century Gothic" panose="020B0502020202020204" charset="0"/>
            </a:endParaRPr>
          </a:p>
        </p:txBody>
      </p:sp>
      <p:grpSp>
        <p:nvGrpSpPr>
          <p:cNvPr id="37" name="Grouper 36"/>
          <p:cNvGrpSpPr/>
          <p:nvPr/>
        </p:nvGrpSpPr>
        <p:grpSpPr>
          <a:xfrm>
            <a:off x="1022985" y="3383280"/>
            <a:ext cx="7206615" cy="365760"/>
            <a:chOff x="1611" y="5616"/>
            <a:chExt cx="11349" cy="576"/>
          </a:xfrm>
        </p:grpSpPr>
        <p:pic>
          <p:nvPicPr>
            <p:cNvPr id="34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11" y="5709"/>
              <a:ext cx="401" cy="451"/>
            </a:xfrm>
            <a:prstGeom prst="rect">
              <a:avLst/>
            </a:prstGeom>
          </p:spPr>
        </p:pic>
        <p:sp>
          <p:nvSpPr>
            <p:cNvPr id="35" name="Text 32"/>
            <p:cNvSpPr/>
            <p:nvPr/>
          </p:nvSpPr>
          <p:spPr>
            <a:xfrm>
              <a:off x="2160" y="5616"/>
              <a:ext cx="10800" cy="576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chemeClr val="tx1"/>
                  </a:solidFill>
                  <a:latin typeface="Century Gothic" panose="020B0502020202020204" charset="0"/>
                  <a:cs typeface="Century Gothic" panose="020B0502020202020204" charset="0"/>
                </a:rPr>
                <a:t>Optimisation du Paramètre k</a:t>
              </a:r>
            </a:p>
          </p:txBody>
        </p:sp>
      </p:grpSp>
      <p:sp>
        <p:nvSpPr>
          <p:cNvPr id="36" name="Text 33"/>
          <p:cNvSpPr/>
          <p:nvPr/>
        </p:nvSpPr>
        <p:spPr>
          <a:xfrm>
            <a:off x="1371600" y="3840480"/>
            <a:ext cx="71323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entury Gothic" panose="020B0502020202020204" charset="0"/>
                <a:cs typeface="Century Gothic" panose="020B0502020202020204" charset="0"/>
              </a:rPr>
              <a:t>Plage testée : </a:t>
            </a:r>
            <a:r>
              <a:rPr lang="en-US" sz="1400" dirty="0">
                <a:solidFill>
                  <a:srgbClr val="1E293B"/>
                </a:solidFill>
                <a:latin typeface="Century Gothic" panose="020B0502020202020204" charset="0"/>
                <a:cs typeface="Century Gothic" panose="020B0502020202020204" charset="0"/>
              </a:rPr>
              <a:t>k ∈ [5, 200] avec pas de 3</a:t>
            </a:r>
            <a:r>
              <a:rPr lang="en-US" sz="1400" b="1" dirty="0">
                <a:solidFill>
                  <a:srgbClr val="1E293B"/>
                </a:solidFill>
                <a:latin typeface="Century Gothic" panose="020B0502020202020204" charset="0"/>
                <a:cs typeface="Century Gothic" panose="020B0502020202020204" charset="0"/>
              </a:rPr>
              <a:t>  |  Critères : </a:t>
            </a:r>
            <a:r>
              <a:rPr lang="en-US" sz="1400" dirty="0">
                <a:solidFill>
                  <a:srgbClr val="1E293B"/>
                </a:solidFill>
                <a:latin typeface="Century Gothic" panose="020B0502020202020204" charset="0"/>
                <a:cs typeface="Century Gothic" panose="020B0502020202020204" charset="0"/>
              </a:rPr>
              <a:t>Maximisation PSNR + Minimisation MSE</a:t>
            </a:r>
            <a:endParaRPr lang="en-US" sz="1400" dirty="0">
              <a:latin typeface="Century Gothic" panose="020B0502020202020204" charset="0"/>
              <a:cs typeface="Century Gothic" panose="020B05020202020202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entury Gothic" panose="020B0502020202020204" charset="0"/>
                <a:ea typeface="Calibri" panose="020F0502020204030204" pitchFamily="34" charset="-122"/>
                <a:cs typeface="Century Gothic" panose="020B0502020202020204" charset="0"/>
              </a:rPr>
              <a:t>IMPLÉMENTATION</a:t>
            </a:r>
            <a:endParaRPr lang="en-US" sz="2800" dirty="0">
              <a:latin typeface="Century Gothic" panose="020B0502020202020204" charset="0"/>
              <a:cs typeface="Century Gothic" panose="020B0502020202020204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330" y="1017905"/>
            <a:ext cx="318770" cy="35369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960120"/>
            <a:ext cx="6858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entury Gothic" panose="020B0502020202020204" charset="0"/>
                <a:cs typeface="Century Gothic" panose="020B0502020202020204" charset="0"/>
              </a:rPr>
              <a:t>Architecture Logicielle</a:t>
            </a:r>
            <a:endParaRPr lang="en-US" sz="2200" dirty="0">
              <a:latin typeface="Century Gothic" panose="020B0502020202020204" charset="0"/>
              <a:cs typeface="Century Gothic" panose="020B0502020202020204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40080" y="1737360"/>
            <a:ext cx="365760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4"/>
          <p:cNvSpPr/>
          <p:nvPr/>
        </p:nvSpPr>
        <p:spPr>
          <a:xfrm>
            <a:off x="640080" y="1737360"/>
            <a:ext cx="73152" cy="1097280"/>
          </a:xfrm>
          <a:prstGeom prst="rect">
            <a:avLst/>
          </a:prstGeom>
          <a:solidFill>
            <a:srgbClr val="02C39A"/>
          </a:solidFill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822960" y="1828800"/>
            <a:ext cx="32918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entury Gothic" panose="020B0502020202020204" charset="0"/>
                <a:cs typeface="Century Gothic" panose="020B0502020202020204" charset="0"/>
              </a:rPr>
              <a:t>Bibliothèques</a:t>
            </a:r>
            <a:endParaRPr lang="en-US" sz="1600" dirty="0">
              <a:latin typeface="Century Gothic" panose="020B0502020202020204" charset="0"/>
              <a:cs typeface="Century Gothic" panose="020B050202020202020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822960" y="2194560"/>
            <a:ext cx="32918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entury Gothic" panose="020B0502020202020204" charset="0"/>
                <a:cs typeface="Century Gothic" panose="020B0502020202020204" charset="0"/>
              </a:rPr>
              <a:t>NumPy (calculs matriciels)</a:t>
            </a:r>
            <a:endParaRPr lang="en-US" sz="1300" dirty="0">
              <a:latin typeface="Century Gothic" panose="020B0502020202020204" charset="0"/>
              <a:cs typeface="Century Gothic" panose="020B0502020202020204" charset="0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entury Gothic" panose="020B0502020202020204" charset="0"/>
                <a:cs typeface="Century Gothic" panose="020B0502020202020204" charset="0"/>
              </a:rPr>
              <a:t>Matplotlib (visualisation)</a:t>
            </a:r>
            <a:endParaRPr lang="en-US" sz="1300" dirty="0">
              <a:latin typeface="Century Gothic" panose="020B0502020202020204" charset="0"/>
              <a:cs typeface="Century Gothic" panose="020B0502020202020204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640080" y="3108960"/>
            <a:ext cx="365760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8"/>
          <p:cNvSpPr/>
          <p:nvPr/>
        </p:nvSpPr>
        <p:spPr>
          <a:xfrm>
            <a:off x="640080" y="3108960"/>
            <a:ext cx="73152" cy="1097280"/>
          </a:xfrm>
          <a:prstGeom prst="rect">
            <a:avLst/>
          </a:prstGeom>
          <a:solidFill>
            <a:srgbClr val="02C39A"/>
          </a:solidFill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822960" y="3200400"/>
            <a:ext cx="32918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entury Gothic" panose="020B0502020202020204" charset="0"/>
                <a:cs typeface="Century Gothic" panose="020B0502020202020204" charset="0"/>
              </a:rPr>
              <a:t>Métriques</a:t>
            </a:r>
            <a:endParaRPr lang="en-US" sz="1600" dirty="0">
              <a:latin typeface="Century Gothic" panose="020B0502020202020204" charset="0"/>
              <a:cs typeface="Century Gothic" panose="020B050202020202020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822960" y="3566160"/>
            <a:ext cx="32918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entury Gothic" panose="020B0502020202020204" charset="0"/>
                <a:cs typeface="Century Gothic" panose="020B0502020202020204" charset="0"/>
              </a:rPr>
              <a:t>PSNR (Peak Signal-to-Noise Ratio)</a:t>
            </a:r>
            <a:endParaRPr lang="en-US" sz="1300" dirty="0">
              <a:latin typeface="Century Gothic" panose="020B0502020202020204" charset="0"/>
              <a:cs typeface="Century Gothic" panose="020B0502020202020204" charset="0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entury Gothic" panose="020B0502020202020204" charset="0"/>
                <a:cs typeface="Century Gothic" panose="020B0502020202020204" charset="0"/>
              </a:rPr>
              <a:t>MSE (Mean Squared Error)</a:t>
            </a:r>
            <a:endParaRPr lang="en-US" sz="1300" dirty="0">
              <a:latin typeface="Century Gothic" panose="020B0502020202020204" charset="0"/>
              <a:cs typeface="Century Gothic" panose="020B0502020202020204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4754880" y="1737360"/>
            <a:ext cx="365760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2"/>
          <p:cNvSpPr/>
          <p:nvPr/>
        </p:nvSpPr>
        <p:spPr>
          <a:xfrm>
            <a:off x="4754880" y="1737360"/>
            <a:ext cx="73152" cy="1097280"/>
          </a:xfrm>
          <a:prstGeom prst="rect">
            <a:avLst/>
          </a:prstGeom>
          <a:solidFill>
            <a:srgbClr val="02C39A"/>
          </a:solidFill>
        </p:spPr>
        <p:txBody>
          <a:bodyPr/>
          <a:lstStyle/>
          <a:p>
            <a:endParaRPr lang="fr-FR"/>
          </a:p>
        </p:txBody>
      </p:sp>
      <p:sp>
        <p:nvSpPr>
          <p:cNvPr id="16" name="Text 13"/>
          <p:cNvSpPr/>
          <p:nvPr/>
        </p:nvSpPr>
        <p:spPr>
          <a:xfrm>
            <a:off x="4937760" y="1828800"/>
            <a:ext cx="32918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entury Gothic" panose="020B0502020202020204" charset="0"/>
                <a:cs typeface="Century Gothic" panose="020B0502020202020204" charset="0"/>
              </a:rPr>
              <a:t>Fonctions Clés</a:t>
            </a:r>
            <a:endParaRPr lang="en-US" sz="1600" dirty="0">
              <a:latin typeface="Century Gothic" panose="020B0502020202020204" charset="0"/>
              <a:cs typeface="Century Gothic" panose="020B0502020202020204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4937760" y="2194560"/>
            <a:ext cx="32918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entury Gothic" panose="020B0502020202020204" charset="0"/>
                <a:cs typeface="Century Gothic" panose="020B0502020202020204" charset="0"/>
              </a:rPr>
              <a:t>restore_image_svd()</a:t>
            </a:r>
            <a:endParaRPr lang="en-US" sz="1300" dirty="0">
              <a:latin typeface="Century Gothic" panose="020B0502020202020204" charset="0"/>
              <a:cs typeface="Century Gothic" panose="020B0502020202020204" charset="0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entury Gothic" panose="020B0502020202020204" charset="0"/>
                <a:cs typeface="Century Gothic" panose="020B0502020202020204" charset="0"/>
              </a:rPr>
              <a:t>find_optimal_k()</a:t>
            </a:r>
            <a:endParaRPr lang="en-US" sz="1300" dirty="0">
              <a:latin typeface="Century Gothic" panose="020B0502020202020204" charset="0"/>
              <a:cs typeface="Century Gothic" panose="020B0502020202020204" charset="0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entury Gothic" panose="020B0502020202020204" charset="0"/>
                <a:cs typeface="Century Gothic" panose="020B0502020202020204" charset="0"/>
              </a:rPr>
              <a:t>psnr() / mse_metric()</a:t>
            </a:r>
            <a:endParaRPr lang="en-US" sz="1300" dirty="0">
              <a:latin typeface="Century Gothic" panose="020B0502020202020204" charset="0"/>
              <a:cs typeface="Century Gothic" panose="020B0502020202020204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4754880" y="3108960"/>
            <a:ext cx="365760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6"/>
          <p:cNvSpPr/>
          <p:nvPr/>
        </p:nvSpPr>
        <p:spPr>
          <a:xfrm>
            <a:off x="4754880" y="3108960"/>
            <a:ext cx="73152" cy="1097280"/>
          </a:xfrm>
          <a:prstGeom prst="rect">
            <a:avLst/>
          </a:prstGeom>
          <a:solidFill>
            <a:srgbClr val="02C39A"/>
          </a:solidFill>
        </p:spPr>
        <p:txBody>
          <a:bodyPr/>
          <a:lstStyle/>
          <a:p>
            <a:endParaRPr lang="fr-FR"/>
          </a:p>
        </p:txBody>
      </p:sp>
      <p:sp>
        <p:nvSpPr>
          <p:cNvPr id="20" name="Text 17"/>
          <p:cNvSpPr/>
          <p:nvPr/>
        </p:nvSpPr>
        <p:spPr>
          <a:xfrm>
            <a:off x="4937760" y="3200400"/>
            <a:ext cx="32918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entury Gothic" panose="020B0502020202020204" charset="0"/>
                <a:cs typeface="Century Gothic" panose="020B0502020202020204" charset="0"/>
              </a:rPr>
              <a:t>Complexité</a:t>
            </a:r>
            <a:endParaRPr lang="en-US" sz="1600" dirty="0">
              <a:latin typeface="Century Gothic" panose="020B0502020202020204" charset="0"/>
              <a:cs typeface="Century Gothic" panose="020B0502020202020204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4937760" y="3566160"/>
            <a:ext cx="32918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entury Gothic" panose="020B0502020202020204" charset="0"/>
                <a:cs typeface="Century Gothic" panose="020B0502020202020204" charset="0"/>
              </a:rPr>
              <a:t>O(n × m × r²) pour l'optimisation</a:t>
            </a:r>
            <a:endParaRPr lang="en-US" sz="1300" dirty="0">
              <a:latin typeface="Century Gothic" panose="020B0502020202020204" charset="0"/>
              <a:cs typeface="Century Gothic" panose="020B0502020202020204" charset="0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entury Gothic" panose="020B0502020202020204" charset="0"/>
                <a:cs typeface="Century Gothic" panose="020B0502020202020204" charset="0"/>
              </a:rPr>
              <a:t>N itérations SVD par recherche</a:t>
            </a:r>
            <a:endParaRPr lang="en-US" sz="1300" dirty="0">
              <a:latin typeface="Century Gothic" panose="020B0502020202020204" charset="0"/>
              <a:cs typeface="Century Gothic" panose="020B05020202020202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entury Gothic" panose="020B0502020202020204" charset="0"/>
                <a:ea typeface="Calibri" panose="020F0502020204030204" pitchFamily="34" charset="-122"/>
                <a:cs typeface="Century Gothic" panose="020B0502020202020204" charset="0"/>
              </a:rPr>
              <a:t>RÉSULTATS QUANTITATIFS</a:t>
            </a:r>
            <a:endParaRPr lang="en-US" sz="2800" dirty="0">
              <a:latin typeface="Century Gothic" panose="020B0502020202020204" charset="0"/>
              <a:cs typeface="Century Gothic" panose="020B0502020202020204" charset="0"/>
            </a:endParaRPr>
          </a:p>
        </p:txBody>
      </p:sp>
      <p:pic>
        <p:nvPicPr>
          <p:cNvPr id="19" name="Image 18" descr="Une image contenant texte, diagramme, capture d’écran, ligne&#10;&#10;Le contenu généré par l’IA peut être incorrect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40080"/>
            <a:ext cx="9144000" cy="45653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</p:spPr>
        <p:txBody>
          <a:bodyPr/>
          <a:lstStyle/>
          <a:p>
            <a:endParaRPr lang="fr-FR" alt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entury Gothic" panose="020B0502020202020204" charset="0"/>
                <a:ea typeface="Calibri" panose="020F0502020204030204" pitchFamily="34" charset="-122"/>
                <a:cs typeface="Century Gothic" panose="020B0502020202020204" charset="0"/>
              </a:rPr>
              <a:t>ANALYSE COMPARATIVE</a:t>
            </a:r>
            <a:endParaRPr lang="en-US" sz="2800" dirty="0">
              <a:latin typeface="Century Gothic" panose="020B0502020202020204" charset="0"/>
              <a:cs typeface="Century Gothic" panose="020B050202020202020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40208" y="678815"/>
            <a:ext cx="78638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entury Gothic" panose="020B0502020202020204" charset="0"/>
                <a:cs typeface="Century Gothic" panose="020B0502020202020204" charset="0"/>
              </a:rPr>
              <a:t>Influence du Paramètre k</a:t>
            </a:r>
            <a:endParaRPr lang="en-US" sz="2200" dirty="0">
              <a:latin typeface="Century Gothic" panose="020B0502020202020204" charset="0"/>
              <a:cs typeface="Century Gothic" panose="020B0502020202020204" charset="0"/>
            </a:endParaRPr>
          </a:p>
        </p:txBody>
      </p:sp>
      <p:sp>
        <p:nvSpPr>
          <p:cNvPr id="6" name="Shape 3"/>
          <p:cNvSpPr/>
          <p:nvPr>
            <p:custDataLst>
              <p:tags r:id="rId1"/>
            </p:custDataLst>
          </p:nvPr>
        </p:nvSpPr>
        <p:spPr>
          <a:xfrm>
            <a:off x="7174522" y="1866265"/>
            <a:ext cx="1406770" cy="731520"/>
          </a:xfrm>
          <a:prstGeom prst="rect">
            <a:avLst/>
          </a:prstGeom>
          <a:solidFill>
            <a:srgbClr val="E74C3C">
              <a:alpha val="85000"/>
            </a:srgbClr>
          </a:solidFill>
          <a:ln w="254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/>
          <p:nvPr>
            <p:custDataLst>
              <p:tags r:id="rId2"/>
            </p:custDataLst>
          </p:nvPr>
        </p:nvSpPr>
        <p:spPr>
          <a:xfrm>
            <a:off x="7223760" y="1943100"/>
            <a:ext cx="2377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entury Gothic" panose="020B0502020202020204" charset="0"/>
                <a:cs typeface="Century Gothic" panose="020B0502020202020204" charset="0"/>
              </a:rPr>
              <a:t>k &lt; optimal</a:t>
            </a:r>
            <a:endParaRPr lang="en-US" sz="1300" dirty="0">
              <a:latin typeface="Century Gothic" panose="020B0502020202020204" charset="0"/>
              <a:cs typeface="Century Gothic" panose="020B0502020202020204" charset="0"/>
            </a:endParaRPr>
          </a:p>
        </p:txBody>
      </p:sp>
      <p:sp>
        <p:nvSpPr>
          <p:cNvPr id="8" name="Text 5"/>
          <p:cNvSpPr/>
          <p:nvPr>
            <p:custDataLst>
              <p:tags r:id="rId3"/>
            </p:custDataLst>
          </p:nvPr>
        </p:nvSpPr>
        <p:spPr>
          <a:xfrm>
            <a:off x="7174522" y="2179320"/>
            <a:ext cx="2377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100" dirty="0">
                <a:solidFill>
                  <a:srgbClr val="1E293B"/>
                </a:solidFill>
                <a:latin typeface="Century Gothic" panose="020B0502020202020204" charset="0"/>
                <a:cs typeface="Century Gothic" panose="020B0502020202020204" charset="0"/>
              </a:rPr>
              <a:t>Perte de détails</a:t>
            </a:r>
            <a:endParaRPr lang="en-US" sz="1100" dirty="0">
              <a:latin typeface="Century Gothic" panose="020B0502020202020204" charset="0"/>
              <a:cs typeface="Century Gothic" panose="020B050202020202020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entury Gothic" panose="020B0502020202020204" charset="0"/>
                <a:cs typeface="Century Gothic" panose="020B0502020202020204" charset="0"/>
              </a:rPr>
              <a:t>Sous-restauration</a:t>
            </a:r>
            <a:endParaRPr lang="en-US" sz="1100" dirty="0">
              <a:latin typeface="Century Gothic" panose="020B0502020202020204" charset="0"/>
              <a:cs typeface="Century Gothic" panose="020B0502020202020204" charset="0"/>
            </a:endParaRPr>
          </a:p>
        </p:txBody>
      </p:sp>
      <p:sp>
        <p:nvSpPr>
          <p:cNvPr id="9" name="Shape 6"/>
          <p:cNvSpPr/>
          <p:nvPr>
            <p:custDataLst>
              <p:tags r:id="rId4"/>
            </p:custDataLst>
          </p:nvPr>
        </p:nvSpPr>
        <p:spPr>
          <a:xfrm>
            <a:off x="7174522" y="2743200"/>
            <a:ext cx="1406770" cy="731520"/>
          </a:xfrm>
          <a:prstGeom prst="rect">
            <a:avLst/>
          </a:prstGeom>
          <a:solidFill>
            <a:srgbClr val="02C39A">
              <a:alpha val="85000"/>
            </a:srgbClr>
          </a:solidFill>
          <a:ln w="254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/>
          <p:nvPr>
            <p:custDataLst>
              <p:tags r:id="rId5"/>
            </p:custDataLst>
          </p:nvPr>
        </p:nvSpPr>
        <p:spPr>
          <a:xfrm>
            <a:off x="7315199" y="2834005"/>
            <a:ext cx="2377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entury Gothic" panose="020B0502020202020204" charset="0"/>
                <a:cs typeface="Century Gothic" panose="020B0502020202020204" charset="0"/>
              </a:rPr>
              <a:t>k ≈ optimal</a:t>
            </a:r>
            <a:endParaRPr lang="en-US" sz="1300" dirty="0">
              <a:latin typeface="Century Gothic" panose="020B0502020202020204" charset="0"/>
              <a:cs typeface="Century Gothic" panose="020B0502020202020204" charset="0"/>
            </a:endParaRPr>
          </a:p>
        </p:txBody>
      </p:sp>
      <p:sp>
        <p:nvSpPr>
          <p:cNvPr id="11" name="Text 8"/>
          <p:cNvSpPr/>
          <p:nvPr>
            <p:custDataLst>
              <p:tags r:id="rId6"/>
            </p:custDataLst>
          </p:nvPr>
        </p:nvSpPr>
        <p:spPr>
          <a:xfrm>
            <a:off x="7315200" y="3108960"/>
            <a:ext cx="2377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entury Gothic" panose="020B0502020202020204" charset="0"/>
                <a:cs typeface="Century Gothic" panose="020B0502020202020204" charset="0"/>
              </a:rPr>
              <a:t>Équilibre parfait</a:t>
            </a:r>
            <a:endParaRPr lang="en-US" sz="1100" dirty="0">
              <a:latin typeface="Century Gothic" panose="020B0502020202020204" charset="0"/>
              <a:cs typeface="Century Gothic" panose="020B050202020202020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entury Gothic" panose="020B0502020202020204" charset="0"/>
                <a:cs typeface="Century Gothic" panose="020B0502020202020204" charset="0"/>
              </a:rPr>
              <a:t>PSNR maximal</a:t>
            </a:r>
            <a:endParaRPr lang="en-US" sz="1100" dirty="0">
              <a:latin typeface="Century Gothic" panose="020B0502020202020204" charset="0"/>
              <a:cs typeface="Century Gothic" panose="020B0502020202020204" charset="0"/>
            </a:endParaRPr>
          </a:p>
        </p:txBody>
      </p:sp>
      <p:sp>
        <p:nvSpPr>
          <p:cNvPr id="12" name="Shape 9"/>
          <p:cNvSpPr/>
          <p:nvPr>
            <p:custDataLst>
              <p:tags r:id="rId7"/>
            </p:custDataLst>
          </p:nvPr>
        </p:nvSpPr>
        <p:spPr>
          <a:xfrm>
            <a:off x="7174522" y="3657600"/>
            <a:ext cx="1406770" cy="731520"/>
          </a:xfrm>
          <a:prstGeom prst="rect">
            <a:avLst/>
          </a:prstGeom>
          <a:solidFill>
            <a:srgbClr val="F39C12">
              <a:alpha val="85000"/>
            </a:srgbClr>
          </a:solidFill>
          <a:ln w="254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13" name="Text 10"/>
          <p:cNvSpPr/>
          <p:nvPr>
            <p:custDataLst>
              <p:tags r:id="rId8"/>
            </p:custDataLst>
          </p:nvPr>
        </p:nvSpPr>
        <p:spPr>
          <a:xfrm>
            <a:off x="7360920" y="3703320"/>
            <a:ext cx="2377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entury Gothic" panose="020B0502020202020204" charset="0"/>
                <a:cs typeface="Century Gothic" panose="020B0502020202020204" charset="0"/>
              </a:rPr>
              <a:t>k &gt; optimal</a:t>
            </a:r>
            <a:endParaRPr lang="en-US" sz="1300" dirty="0">
              <a:latin typeface="Century Gothic" panose="020B0502020202020204" charset="0"/>
              <a:cs typeface="Century Gothic" panose="020B0502020202020204" charset="0"/>
            </a:endParaRPr>
          </a:p>
        </p:txBody>
      </p:sp>
      <p:sp>
        <p:nvSpPr>
          <p:cNvPr id="14" name="Text 11"/>
          <p:cNvSpPr/>
          <p:nvPr>
            <p:custDataLst>
              <p:tags r:id="rId9"/>
            </p:custDataLst>
          </p:nvPr>
        </p:nvSpPr>
        <p:spPr>
          <a:xfrm>
            <a:off x="7125285" y="4000500"/>
            <a:ext cx="2377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entury Gothic" panose="020B0502020202020204" charset="0"/>
                <a:cs typeface="Century Gothic" panose="020B0502020202020204" charset="0"/>
              </a:rPr>
              <a:t>Réintroduction bruit</a:t>
            </a:r>
            <a:endParaRPr lang="en-US" sz="1100" dirty="0">
              <a:latin typeface="Century Gothic" panose="020B0502020202020204" charset="0"/>
              <a:cs typeface="Century Gothic" panose="020B050202020202020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entury Gothic" panose="020B0502020202020204" charset="0"/>
                <a:cs typeface="Century Gothic" panose="020B0502020202020204" charset="0"/>
              </a:rPr>
              <a:t>Sur-restauration</a:t>
            </a:r>
            <a:endParaRPr lang="en-US" sz="1100" dirty="0">
              <a:latin typeface="Century Gothic" panose="020B0502020202020204" charset="0"/>
              <a:cs typeface="Century Gothic" panose="020B0502020202020204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CE92046-65DF-8CFC-48F2-2F445C10872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448" y="1737360"/>
            <a:ext cx="7102455" cy="27273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entury Gothic" panose="020B0502020202020204" charset="0"/>
                <a:ea typeface="Calibri" panose="020F0502020204030204" pitchFamily="34" charset="-122"/>
                <a:cs typeface="Century Gothic" panose="020B0502020202020204" charset="0"/>
              </a:rPr>
              <a:t>DISCUSSION</a:t>
            </a:r>
            <a:endParaRPr lang="en-US" sz="2800" dirty="0">
              <a:latin typeface="Century Gothic" panose="020B0502020202020204" charset="0"/>
              <a:cs typeface="Century Gothic" panose="020B0502020202020204" charset="0"/>
            </a:endParaRPr>
          </a:p>
        </p:txBody>
      </p:sp>
      <p:grpSp>
        <p:nvGrpSpPr>
          <p:cNvPr id="34" name="Grouper 33"/>
          <p:cNvGrpSpPr/>
          <p:nvPr/>
        </p:nvGrpSpPr>
        <p:grpSpPr>
          <a:xfrm>
            <a:off x="457200" y="1459865"/>
            <a:ext cx="4114800" cy="2651760"/>
            <a:chOff x="720" y="2515"/>
            <a:chExt cx="6480" cy="4176"/>
          </a:xfrm>
        </p:grpSpPr>
        <p:grpSp>
          <p:nvGrpSpPr>
            <p:cNvPr id="33" name="Grouper 32"/>
            <p:cNvGrpSpPr/>
            <p:nvPr/>
          </p:nvGrpSpPr>
          <p:grpSpPr>
            <a:xfrm>
              <a:off x="720" y="2515"/>
              <a:ext cx="6480" cy="4176"/>
              <a:chOff x="720" y="1584"/>
              <a:chExt cx="6480" cy="4176"/>
            </a:xfrm>
          </p:grpSpPr>
          <p:sp>
            <p:nvSpPr>
              <p:cNvPr id="4" name="Shape 2"/>
              <p:cNvSpPr/>
              <p:nvPr/>
            </p:nvSpPr>
            <p:spPr>
              <a:xfrm>
                <a:off x="720" y="1584"/>
                <a:ext cx="6480" cy="720"/>
              </a:xfrm>
              <a:prstGeom prst="rect">
                <a:avLst/>
              </a:prstGeom>
              <a:solidFill>
                <a:srgbClr val="02C39A"/>
              </a:solidFill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7" name="Text 4"/>
              <p:cNvSpPr/>
              <p:nvPr/>
            </p:nvSpPr>
            <p:spPr>
              <a:xfrm>
                <a:off x="1584" y="2592"/>
                <a:ext cx="5328" cy="576"/>
              </a:xfrm>
              <a:prstGeom prst="rect">
                <a:avLst/>
              </a:prstGeom>
              <a:noFill/>
            </p:spPr>
            <p:txBody>
              <a:bodyPr wrap="square" rtlCol="0" anchor="ctr"/>
              <a:lstStyle/>
              <a:p>
                <a:pPr marL="285750" indent="-285750">
                  <a:buFont typeface="Wingdings" panose="05000000000000000000" charset="0"/>
                  <a:buChar char="§"/>
                </a:pPr>
                <a:r>
                  <a:rPr lang="en-US" sz="1400" dirty="0">
                    <a:solidFill>
                      <a:srgbClr val="1E293B"/>
                    </a:solidFill>
                    <a:latin typeface="Century Gothic" panose="020B0502020202020204" charset="0"/>
                    <a:cs typeface="Century Gothic" panose="020B0502020202020204" charset="0"/>
                  </a:rPr>
                  <a:t>Base mathématique solide (SVD)</a:t>
                </a:r>
                <a:endParaRPr lang="en-US" sz="1400" dirty="0">
                  <a:latin typeface="Century Gothic" panose="020B0502020202020204" charset="0"/>
                  <a:cs typeface="Century Gothic" panose="020B0502020202020204" charset="0"/>
                </a:endParaRPr>
              </a:p>
            </p:txBody>
          </p:sp>
          <p:sp>
            <p:nvSpPr>
              <p:cNvPr id="9" name="Text 5"/>
              <p:cNvSpPr/>
              <p:nvPr/>
            </p:nvSpPr>
            <p:spPr>
              <a:xfrm>
                <a:off x="1584" y="3240"/>
                <a:ext cx="5328" cy="576"/>
              </a:xfrm>
              <a:prstGeom prst="rect">
                <a:avLst/>
              </a:prstGeom>
              <a:noFill/>
            </p:spPr>
            <p:txBody>
              <a:bodyPr wrap="square" rtlCol="0" anchor="ctr"/>
              <a:lstStyle/>
              <a:p>
                <a:pPr marL="285750" indent="-285750">
                  <a:buFont typeface="Wingdings" panose="05000000000000000000" charset="0"/>
                  <a:buChar char="§"/>
                </a:pPr>
                <a:r>
                  <a:rPr lang="en-US" sz="1400" dirty="0">
                    <a:solidFill>
                      <a:srgbClr val="1E293B"/>
                    </a:solidFill>
                    <a:latin typeface="Century Gothic" panose="020B0502020202020204" charset="0"/>
                    <a:cs typeface="Century Gothic" panose="020B0502020202020204" charset="0"/>
                  </a:rPr>
                  <a:t>Aucun apprentissage requis</a:t>
                </a:r>
                <a:endParaRPr lang="en-US" sz="1400" dirty="0">
                  <a:latin typeface="Century Gothic" panose="020B0502020202020204" charset="0"/>
                  <a:cs typeface="Century Gothic" panose="020B0502020202020204" charset="0"/>
                </a:endParaRPr>
              </a:p>
            </p:txBody>
          </p:sp>
          <p:sp>
            <p:nvSpPr>
              <p:cNvPr id="11" name="Text 6"/>
              <p:cNvSpPr/>
              <p:nvPr/>
            </p:nvSpPr>
            <p:spPr>
              <a:xfrm>
                <a:off x="1584" y="3888"/>
                <a:ext cx="5328" cy="576"/>
              </a:xfrm>
              <a:prstGeom prst="rect">
                <a:avLst/>
              </a:prstGeom>
              <a:noFill/>
            </p:spPr>
            <p:txBody>
              <a:bodyPr wrap="square" rtlCol="0" anchor="ctr"/>
              <a:lstStyle/>
              <a:p>
                <a:pPr marL="285750" indent="-285750">
                  <a:buFont typeface="Wingdings" panose="05000000000000000000" charset="0"/>
                  <a:buChar char="§"/>
                </a:pPr>
                <a:r>
                  <a:rPr lang="en-US" sz="1400" dirty="0">
                    <a:solidFill>
                      <a:srgbClr val="1E293B"/>
                    </a:solidFill>
                    <a:latin typeface="Century Gothic" panose="020B0502020202020204" charset="0"/>
                    <a:cs typeface="Century Gothic" panose="020B0502020202020204" charset="0"/>
                  </a:rPr>
                  <a:t>Résultats déterministes</a:t>
                </a:r>
                <a:endParaRPr lang="en-US" sz="1400" dirty="0">
                  <a:latin typeface="Century Gothic" panose="020B0502020202020204" charset="0"/>
                  <a:cs typeface="Century Gothic" panose="020B0502020202020204" charset="0"/>
                </a:endParaRPr>
              </a:p>
            </p:txBody>
          </p:sp>
          <p:sp>
            <p:nvSpPr>
              <p:cNvPr id="13" name="Text 7"/>
              <p:cNvSpPr/>
              <p:nvPr/>
            </p:nvSpPr>
            <p:spPr>
              <a:xfrm>
                <a:off x="1584" y="4536"/>
                <a:ext cx="5328" cy="576"/>
              </a:xfrm>
              <a:prstGeom prst="rect">
                <a:avLst/>
              </a:prstGeom>
              <a:noFill/>
            </p:spPr>
            <p:txBody>
              <a:bodyPr wrap="square" rtlCol="0" anchor="ctr"/>
              <a:lstStyle/>
              <a:p>
                <a:pPr marL="285750" indent="-285750">
                  <a:buFont typeface="Wingdings" panose="05000000000000000000" charset="0"/>
                  <a:buChar char="§"/>
                </a:pPr>
                <a:r>
                  <a:rPr lang="en-US" sz="1400" dirty="0">
                    <a:solidFill>
                      <a:srgbClr val="1E293B"/>
                    </a:solidFill>
                    <a:latin typeface="Century Gothic" panose="020B0502020202020204" charset="0"/>
                    <a:cs typeface="Century Gothic" panose="020B0502020202020204" charset="0"/>
                  </a:rPr>
                  <a:t>Interprétabilité claire</a:t>
                </a:r>
                <a:endParaRPr lang="en-US" sz="1400" dirty="0">
                  <a:latin typeface="Century Gothic" panose="020B0502020202020204" charset="0"/>
                  <a:cs typeface="Century Gothic" panose="020B0502020202020204" charset="0"/>
                </a:endParaRPr>
              </a:p>
            </p:txBody>
          </p:sp>
          <p:sp>
            <p:nvSpPr>
              <p:cNvPr id="15" name="Text 8"/>
              <p:cNvSpPr/>
              <p:nvPr/>
            </p:nvSpPr>
            <p:spPr>
              <a:xfrm>
                <a:off x="1584" y="5184"/>
                <a:ext cx="5328" cy="576"/>
              </a:xfrm>
              <a:prstGeom prst="rect">
                <a:avLst/>
              </a:prstGeom>
              <a:noFill/>
            </p:spPr>
            <p:txBody>
              <a:bodyPr wrap="square" rtlCol="0" anchor="ctr"/>
              <a:lstStyle/>
              <a:p>
                <a:pPr marL="285750" indent="-285750">
                  <a:buFont typeface="Wingdings" panose="05000000000000000000" charset="0"/>
                  <a:buChar char="§"/>
                </a:pPr>
                <a:r>
                  <a:rPr lang="en-US" sz="1400" dirty="0">
                    <a:solidFill>
                      <a:srgbClr val="1E293B"/>
                    </a:solidFill>
                    <a:latin typeface="Century Gothic" panose="020B0502020202020204" charset="0"/>
                    <a:cs typeface="Century Gothic" panose="020B0502020202020204" charset="0"/>
                  </a:rPr>
                  <a:t>Efficace pour bruit gaussien</a:t>
                </a:r>
                <a:endParaRPr lang="en-US" sz="1400" dirty="0">
                  <a:latin typeface="Century Gothic" panose="020B0502020202020204" charset="0"/>
                  <a:cs typeface="Century Gothic" panose="020B0502020202020204" charset="0"/>
                </a:endParaRPr>
              </a:p>
            </p:txBody>
          </p:sp>
        </p:grpSp>
        <p:sp>
          <p:nvSpPr>
            <p:cNvPr id="5" name="Text 3"/>
            <p:cNvSpPr/>
            <p:nvPr/>
          </p:nvSpPr>
          <p:spPr>
            <a:xfrm>
              <a:off x="720" y="2515"/>
              <a:ext cx="6480" cy="72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FFFFFF"/>
                  </a:solidFill>
                  <a:latin typeface="Century Gothic" panose="020B0502020202020204" charset="0"/>
                  <a:cs typeface="Century Gothic" panose="020B0502020202020204" charset="0"/>
                </a:rPr>
                <a:t> FORCES</a:t>
              </a:r>
              <a:endParaRPr lang="en-US" sz="2000" dirty="0">
                <a:latin typeface="Century Gothic" panose="020B0502020202020204" charset="0"/>
                <a:cs typeface="Century Gothic" panose="020B0502020202020204" charset="0"/>
              </a:endParaRPr>
            </a:p>
          </p:txBody>
        </p:sp>
      </p:grpSp>
      <p:grpSp>
        <p:nvGrpSpPr>
          <p:cNvPr id="36" name="Grouper 35"/>
          <p:cNvGrpSpPr/>
          <p:nvPr/>
        </p:nvGrpSpPr>
        <p:grpSpPr>
          <a:xfrm>
            <a:off x="4572000" y="1459865"/>
            <a:ext cx="4392295" cy="2658745"/>
            <a:chOff x="7200" y="2504"/>
            <a:chExt cx="6917" cy="4187"/>
          </a:xfrm>
        </p:grpSpPr>
        <p:sp>
          <p:nvSpPr>
            <p:cNvPr id="16" name="Shape 9"/>
            <p:cNvSpPr/>
            <p:nvPr/>
          </p:nvSpPr>
          <p:spPr>
            <a:xfrm>
              <a:off x="7211" y="2504"/>
              <a:ext cx="6480" cy="720"/>
            </a:xfrm>
            <a:prstGeom prst="rect">
              <a:avLst/>
            </a:prstGeom>
            <a:solidFill>
              <a:srgbClr val="E74C3C">
                <a:alpha val="63000"/>
              </a:srgbClr>
            </a:solidFill>
          </p:spPr>
          <p:txBody>
            <a:bodyPr/>
            <a:lstStyle/>
            <a:p>
              <a:endParaRPr lang="fr-FR" altLang="en-US"/>
            </a:p>
          </p:txBody>
        </p:sp>
        <p:grpSp>
          <p:nvGrpSpPr>
            <p:cNvPr id="35" name="Grouper 34"/>
            <p:cNvGrpSpPr/>
            <p:nvPr/>
          </p:nvGrpSpPr>
          <p:grpSpPr>
            <a:xfrm>
              <a:off x="7200" y="2515"/>
              <a:ext cx="6917" cy="4176"/>
              <a:chOff x="7200" y="1584"/>
              <a:chExt cx="6917" cy="4176"/>
            </a:xfrm>
          </p:grpSpPr>
          <p:sp>
            <p:nvSpPr>
              <p:cNvPr id="18" name="Text 11"/>
              <p:cNvSpPr/>
              <p:nvPr/>
            </p:nvSpPr>
            <p:spPr>
              <a:xfrm>
                <a:off x="7488" y="2592"/>
                <a:ext cx="432" cy="576"/>
              </a:xfrm>
              <a:prstGeom prst="rect">
                <a:avLst/>
              </a:prstGeom>
              <a:noFill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E74C3C"/>
                    </a:solidFill>
                  </a:rPr>
                  <a:t>•</a:t>
                </a:r>
                <a:endParaRPr lang="en-US" sz="1800" dirty="0"/>
              </a:p>
            </p:txBody>
          </p:sp>
          <p:sp>
            <p:nvSpPr>
              <p:cNvPr id="19" name="Text 12"/>
              <p:cNvSpPr/>
              <p:nvPr/>
            </p:nvSpPr>
            <p:spPr>
              <a:xfrm>
                <a:off x="8064" y="2592"/>
                <a:ext cx="6033" cy="576"/>
              </a:xfrm>
              <a:prstGeom prst="rect">
                <a:avLst/>
              </a:prstGeom>
              <a:noFill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400" dirty="0">
                    <a:solidFill>
                      <a:srgbClr val="1E293B"/>
                    </a:solidFill>
                    <a:latin typeface="Century Gothic" panose="020B0502020202020204" charset="0"/>
                    <a:cs typeface="Century Gothic" panose="020B0502020202020204" charset="0"/>
                  </a:rPr>
                  <a:t>Optimisé pour bruit gaussien uniquement</a:t>
                </a:r>
                <a:endParaRPr lang="en-US" sz="1400" dirty="0">
                  <a:latin typeface="Century Gothic" panose="020B0502020202020204" charset="0"/>
                  <a:cs typeface="Century Gothic" panose="020B0502020202020204" charset="0"/>
                </a:endParaRPr>
              </a:p>
            </p:txBody>
          </p:sp>
          <p:sp>
            <p:nvSpPr>
              <p:cNvPr id="20" name="Text 13"/>
              <p:cNvSpPr/>
              <p:nvPr/>
            </p:nvSpPr>
            <p:spPr>
              <a:xfrm>
                <a:off x="7488" y="3240"/>
                <a:ext cx="432" cy="576"/>
              </a:xfrm>
              <a:prstGeom prst="rect">
                <a:avLst/>
              </a:prstGeom>
              <a:noFill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E74C3C"/>
                    </a:solidFill>
                  </a:rPr>
                  <a:t>•</a:t>
                </a:r>
                <a:endParaRPr lang="en-US" sz="1800" dirty="0"/>
              </a:p>
            </p:txBody>
          </p:sp>
          <p:sp>
            <p:nvSpPr>
              <p:cNvPr id="21" name="Text 14"/>
              <p:cNvSpPr/>
              <p:nvPr/>
            </p:nvSpPr>
            <p:spPr>
              <a:xfrm>
                <a:off x="8064" y="3240"/>
                <a:ext cx="5328" cy="576"/>
              </a:xfrm>
              <a:prstGeom prst="rect">
                <a:avLst/>
              </a:prstGeom>
              <a:noFill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400" dirty="0">
                    <a:solidFill>
                      <a:srgbClr val="1E293B"/>
                    </a:solidFill>
                    <a:latin typeface="Century Gothic" panose="020B0502020202020204" charset="0"/>
                    <a:cs typeface="Century Gothic" panose="020B0502020202020204" charset="0"/>
                  </a:rPr>
                  <a:t>Coût O(n³) pour grandes images</a:t>
                </a:r>
                <a:endParaRPr lang="en-US" sz="1400" dirty="0">
                  <a:latin typeface="Century Gothic" panose="020B0502020202020204" charset="0"/>
                  <a:cs typeface="Century Gothic" panose="020B0502020202020204" charset="0"/>
                </a:endParaRPr>
              </a:p>
            </p:txBody>
          </p:sp>
          <p:sp>
            <p:nvSpPr>
              <p:cNvPr id="22" name="Text 15"/>
              <p:cNvSpPr/>
              <p:nvPr/>
            </p:nvSpPr>
            <p:spPr>
              <a:xfrm>
                <a:off x="7488" y="3888"/>
                <a:ext cx="432" cy="576"/>
              </a:xfrm>
              <a:prstGeom prst="rect">
                <a:avLst/>
              </a:prstGeom>
              <a:noFill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E74C3C"/>
                    </a:solidFill>
                  </a:rPr>
                  <a:t>•</a:t>
                </a:r>
                <a:endParaRPr lang="en-US" sz="1800" dirty="0"/>
              </a:p>
            </p:txBody>
          </p:sp>
          <p:sp>
            <p:nvSpPr>
              <p:cNvPr id="23" name="Text 16"/>
              <p:cNvSpPr/>
              <p:nvPr/>
            </p:nvSpPr>
            <p:spPr>
              <a:xfrm>
                <a:off x="8064" y="3888"/>
                <a:ext cx="6053" cy="576"/>
              </a:xfrm>
              <a:prstGeom prst="rect">
                <a:avLst/>
              </a:prstGeom>
              <a:noFill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400" dirty="0">
                    <a:solidFill>
                      <a:srgbClr val="1E293B"/>
                    </a:solidFill>
                    <a:latin typeface="Century Gothic" panose="020B0502020202020204" charset="0"/>
                    <a:cs typeface="Century Gothic" panose="020B0502020202020204" charset="0"/>
                  </a:rPr>
                  <a:t>Choix de k nécessite image référence</a:t>
                </a:r>
                <a:endParaRPr lang="en-US" sz="1400" dirty="0">
                  <a:latin typeface="Century Gothic" panose="020B0502020202020204" charset="0"/>
                  <a:cs typeface="Century Gothic" panose="020B0502020202020204" charset="0"/>
                </a:endParaRPr>
              </a:p>
            </p:txBody>
          </p:sp>
          <p:sp>
            <p:nvSpPr>
              <p:cNvPr id="24" name="Text 17"/>
              <p:cNvSpPr/>
              <p:nvPr/>
            </p:nvSpPr>
            <p:spPr>
              <a:xfrm>
                <a:off x="7488" y="4536"/>
                <a:ext cx="432" cy="576"/>
              </a:xfrm>
              <a:prstGeom prst="rect">
                <a:avLst/>
              </a:prstGeom>
              <a:noFill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E74C3C"/>
                    </a:solidFill>
                  </a:rPr>
                  <a:t>•</a:t>
                </a:r>
                <a:endParaRPr lang="en-US" sz="1800" dirty="0"/>
              </a:p>
            </p:txBody>
          </p:sp>
          <p:sp>
            <p:nvSpPr>
              <p:cNvPr id="25" name="Text 18"/>
              <p:cNvSpPr/>
              <p:nvPr/>
            </p:nvSpPr>
            <p:spPr>
              <a:xfrm>
                <a:off x="8064" y="4536"/>
                <a:ext cx="6053" cy="576"/>
              </a:xfrm>
              <a:prstGeom prst="rect">
                <a:avLst/>
              </a:prstGeom>
              <a:noFill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400" dirty="0">
                    <a:solidFill>
                      <a:srgbClr val="1E293B"/>
                    </a:solidFill>
                    <a:latin typeface="Century Gothic" panose="020B0502020202020204" charset="0"/>
                    <a:cs typeface="Century Gothic" panose="020B0502020202020204" charset="0"/>
                  </a:rPr>
                  <a:t>Canaux RGB traités indépendamment</a:t>
                </a:r>
                <a:endParaRPr lang="en-US" sz="1400" dirty="0">
                  <a:latin typeface="Century Gothic" panose="020B0502020202020204" charset="0"/>
                  <a:cs typeface="Century Gothic" panose="020B0502020202020204" charset="0"/>
                </a:endParaRPr>
              </a:p>
            </p:txBody>
          </p:sp>
          <p:sp>
            <p:nvSpPr>
              <p:cNvPr id="26" name="Text 19"/>
              <p:cNvSpPr/>
              <p:nvPr/>
            </p:nvSpPr>
            <p:spPr>
              <a:xfrm>
                <a:off x="7488" y="5184"/>
                <a:ext cx="432" cy="576"/>
              </a:xfrm>
              <a:prstGeom prst="rect">
                <a:avLst/>
              </a:prstGeom>
              <a:noFill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E74C3C"/>
                    </a:solidFill>
                  </a:rPr>
                  <a:t>•</a:t>
                </a:r>
                <a:endParaRPr lang="en-US" sz="1800" dirty="0"/>
              </a:p>
            </p:txBody>
          </p:sp>
          <p:sp>
            <p:nvSpPr>
              <p:cNvPr id="27" name="Text 20"/>
              <p:cNvSpPr/>
              <p:nvPr/>
            </p:nvSpPr>
            <p:spPr>
              <a:xfrm>
                <a:off x="8064" y="5184"/>
                <a:ext cx="5328" cy="576"/>
              </a:xfrm>
              <a:prstGeom prst="rect">
                <a:avLst/>
              </a:prstGeom>
              <a:noFill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400" dirty="0">
                    <a:solidFill>
                      <a:srgbClr val="1E293B"/>
                    </a:solidFill>
                    <a:latin typeface="Century Gothic" panose="020B0502020202020204" charset="0"/>
                    <a:cs typeface="Century Gothic" panose="020B0502020202020204" charset="0"/>
                  </a:rPr>
                  <a:t>Sensible aux bruits non-additifs</a:t>
                </a:r>
                <a:endParaRPr lang="en-US" sz="1400" dirty="0">
                  <a:latin typeface="Century Gothic" panose="020B0502020202020204" charset="0"/>
                  <a:cs typeface="Century Gothic" panose="020B0502020202020204" charset="0"/>
                </a:endParaRPr>
              </a:p>
            </p:txBody>
          </p:sp>
          <p:sp>
            <p:nvSpPr>
              <p:cNvPr id="17" name="Text 10"/>
              <p:cNvSpPr/>
              <p:nvPr/>
            </p:nvSpPr>
            <p:spPr>
              <a:xfrm>
                <a:off x="7200" y="1584"/>
                <a:ext cx="6480" cy="720"/>
              </a:xfrm>
              <a:prstGeom prst="rect">
                <a:avLst/>
              </a:prstGeom>
              <a:noFill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2000" b="1" dirty="0">
                    <a:solidFill>
                      <a:srgbClr val="FFFFFF"/>
                    </a:solidFill>
                    <a:latin typeface="Century Gothic" panose="020B0502020202020204" charset="0"/>
                    <a:cs typeface="Century Gothic" panose="020B0502020202020204" charset="0"/>
                  </a:rPr>
                  <a:t>LIMITATIONS</a:t>
                </a:r>
                <a:endParaRPr lang="en-US" sz="2000" dirty="0">
                  <a:latin typeface="Century Gothic" panose="020B0502020202020204" charset="0"/>
                  <a:cs typeface="Century Gothic" panose="020B0502020202020204" charset="0"/>
                </a:endParaRPr>
              </a:p>
            </p:txBody>
          </p:sp>
        </p:grp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7515" y="238125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entury Gothic" panose="020B0502020202020204" charset="0"/>
                <a:ea typeface="Calibri" panose="020F0502020204030204" pitchFamily="34" charset="-122"/>
                <a:cs typeface="Century Gothic" panose="020B0502020202020204" charset="0"/>
              </a:rPr>
              <a:t>CONCLUSION</a:t>
            </a:r>
            <a:endParaRPr lang="en-US" sz="3600" dirty="0">
              <a:latin typeface="Century Gothic" panose="020B0502020202020204" charset="0"/>
              <a:cs typeface="Century Gothic" panose="020B0502020202020204" charset="0"/>
            </a:endParaRPr>
          </a:p>
        </p:txBody>
      </p:sp>
      <p:grpSp>
        <p:nvGrpSpPr>
          <p:cNvPr id="18" name="Grouper 17"/>
          <p:cNvGrpSpPr/>
          <p:nvPr/>
        </p:nvGrpSpPr>
        <p:grpSpPr>
          <a:xfrm>
            <a:off x="1562100" y="1118235"/>
            <a:ext cx="7105015" cy="1691640"/>
            <a:chOff x="2460" y="2880"/>
            <a:chExt cx="11189" cy="2664"/>
          </a:xfrm>
        </p:grpSpPr>
        <p:sp>
          <p:nvSpPr>
            <p:cNvPr id="4" name="Text 2"/>
            <p:cNvSpPr/>
            <p:nvPr>
              <p:custDataLst>
                <p:tags r:id="rId2"/>
              </p:custDataLst>
            </p:nvPr>
          </p:nvSpPr>
          <p:spPr>
            <a:xfrm>
              <a:off x="2460" y="2880"/>
              <a:ext cx="9504" cy="792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800" b="1" dirty="0">
                  <a:solidFill>
                    <a:srgbClr val="FFFFFF"/>
                  </a:solidFill>
                  <a:latin typeface="Century Gothic" panose="020B0502020202020204" charset="0"/>
                  <a:cs typeface="Century Gothic" panose="020B0502020202020204" charset="0"/>
                </a:rPr>
                <a:t>✓  </a:t>
              </a:r>
              <a:r>
                <a:rPr lang="en-US" sz="1800" b="1" dirty="0" err="1">
                  <a:solidFill>
                    <a:srgbClr val="FFFFFF"/>
                  </a:solidFill>
                  <a:latin typeface="Century Gothic" panose="020B0502020202020204" charset="0"/>
                  <a:cs typeface="Century Gothic" panose="020B0502020202020204" charset="0"/>
                </a:rPr>
                <a:t>Méthode</a:t>
              </a:r>
              <a:r>
                <a:rPr lang="en-US" sz="1800" b="1" dirty="0">
                  <a:solidFill>
                    <a:srgbClr val="FFFFFF"/>
                  </a:solidFill>
                  <a:latin typeface="Century Gothic" panose="020B0502020202020204" charset="0"/>
                  <a:cs typeface="Century Gothic" panose="020B0502020202020204" charset="0"/>
                </a:rPr>
                <a:t> mathématique efficace</a:t>
              </a:r>
              <a:endParaRPr lang="en-US" sz="1800" dirty="0">
                <a:latin typeface="Century Gothic" panose="020B0502020202020204" charset="0"/>
                <a:cs typeface="Century Gothic" panose="020B0502020202020204" charset="0"/>
              </a:endParaRPr>
            </a:p>
          </p:txBody>
        </p:sp>
        <p:sp>
          <p:nvSpPr>
            <p:cNvPr id="6" name="Text 4"/>
            <p:cNvSpPr/>
            <p:nvPr>
              <p:custDataLst>
                <p:tags r:id="rId3"/>
              </p:custDataLst>
            </p:nvPr>
          </p:nvSpPr>
          <p:spPr>
            <a:xfrm>
              <a:off x="2460" y="3816"/>
              <a:ext cx="11189" cy="792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r>
                <a:rPr lang="en-US" b="1" dirty="0">
                  <a:solidFill>
                    <a:srgbClr val="FFFFFF"/>
                  </a:solidFill>
                  <a:latin typeface="Century Gothic" panose="020B0502020202020204" pitchFamily="34" charset="0"/>
                  <a:cs typeface="Century Gothic" panose="020B0502020202020204" charset="0"/>
                </a:rPr>
                <a:t>✓</a:t>
              </a:r>
              <a:r>
                <a:rPr lang="en-US" sz="1800" b="1" dirty="0">
                  <a:solidFill>
                    <a:schemeClr val="bg1"/>
                  </a:solidFill>
                  <a:latin typeface="Century Gothic" panose="020B0502020202020204" pitchFamily="34" charset="0"/>
                  <a:cs typeface="Century Gothic" panose="020B0502020202020204" charset="0"/>
                </a:rPr>
                <a:t> </a:t>
              </a:r>
              <a:r>
                <a:rPr lang="fr-FR" b="1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Résultats quantitatifs probants (+2.96 dB PSNR, -49.4% MSE)</a:t>
              </a:r>
              <a:endParaRPr lang="en-US" sz="1800" b="1" dirty="0">
                <a:solidFill>
                  <a:schemeClr val="bg1"/>
                </a:solidFill>
                <a:latin typeface="Century Gothic" panose="020B0502020202020204" pitchFamily="34" charset="0"/>
                <a:cs typeface="Century Gothic" panose="020B0502020202020204" charset="0"/>
              </a:endParaRPr>
            </a:p>
          </p:txBody>
        </p:sp>
        <p:sp>
          <p:nvSpPr>
            <p:cNvPr id="8" name="Text 6"/>
            <p:cNvSpPr/>
            <p:nvPr>
              <p:custDataLst>
                <p:tags r:id="rId4"/>
              </p:custDataLst>
            </p:nvPr>
          </p:nvSpPr>
          <p:spPr>
            <a:xfrm>
              <a:off x="2460" y="4752"/>
              <a:ext cx="9504" cy="792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800" b="1" dirty="0">
                  <a:solidFill>
                    <a:srgbClr val="FFFFFF"/>
                  </a:solidFill>
                  <a:latin typeface="Century Gothic" panose="020B0502020202020204" charset="0"/>
                  <a:cs typeface="Century Gothic" panose="020B0502020202020204" charset="0"/>
                </a:rPr>
                <a:t>✓  </a:t>
              </a:r>
              <a:r>
                <a:rPr lang="en-US" sz="1800" b="1" dirty="0" err="1">
                  <a:solidFill>
                    <a:srgbClr val="FFFFFF"/>
                  </a:solidFill>
                  <a:latin typeface="Century Gothic" panose="020B0502020202020204" charset="0"/>
                  <a:cs typeface="Century Gothic" panose="020B0502020202020204" charset="0"/>
                </a:rPr>
                <a:t>Optimisation</a:t>
              </a:r>
              <a:r>
                <a:rPr lang="en-US" sz="1800" b="1" dirty="0">
                  <a:solidFill>
                    <a:srgbClr val="FFFFFF"/>
                  </a:solidFill>
                  <a:latin typeface="Century Gothic" panose="020B0502020202020204" charset="0"/>
                  <a:cs typeface="Century Gothic" panose="020B0502020202020204" charset="0"/>
                </a:rPr>
                <a:t> </a:t>
              </a:r>
              <a:r>
                <a:rPr lang="en-US" sz="1800" b="1" dirty="0" err="1">
                  <a:solidFill>
                    <a:srgbClr val="FFFFFF"/>
                  </a:solidFill>
                  <a:latin typeface="Century Gothic" panose="020B0502020202020204" charset="0"/>
                  <a:cs typeface="Century Gothic" panose="020B0502020202020204" charset="0"/>
                </a:rPr>
                <a:t>automatique</a:t>
              </a:r>
              <a:r>
                <a:rPr lang="en-US" sz="1800" b="1" dirty="0">
                  <a:solidFill>
                    <a:srgbClr val="FFFFFF"/>
                  </a:solidFill>
                  <a:latin typeface="Century Gothic" panose="020B0502020202020204" charset="0"/>
                  <a:cs typeface="Century Gothic" panose="020B0502020202020204" charset="0"/>
                </a:rPr>
                <a:t> </a:t>
              </a:r>
              <a:r>
                <a:rPr lang="en-US" sz="1800" b="1" dirty="0" err="1">
                  <a:solidFill>
                    <a:srgbClr val="FFFFFF"/>
                  </a:solidFill>
                  <a:latin typeface="Century Gothic" panose="020B0502020202020204" charset="0"/>
                  <a:cs typeface="Century Gothic" panose="020B0502020202020204" charset="0"/>
                </a:rPr>
                <a:t>fonctionnelle</a:t>
              </a:r>
              <a:endParaRPr lang="en-US" sz="1800" dirty="0">
                <a:latin typeface="Century Gothic" panose="020B0502020202020204" charset="0"/>
                <a:cs typeface="Century Gothic" panose="020B0502020202020204" charset="0"/>
              </a:endParaRPr>
            </a:p>
          </p:txBody>
        </p:sp>
      </p:grpSp>
      <p:sp>
        <p:nvSpPr>
          <p:cNvPr id="10" name="Text 8"/>
          <p:cNvSpPr/>
          <p:nvPr>
            <p:custDataLst>
              <p:tags r:id="rId1"/>
            </p:custDataLst>
          </p:nvPr>
        </p:nvSpPr>
        <p:spPr>
          <a:xfrm>
            <a:off x="1568450" y="2968625"/>
            <a:ext cx="60350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Gothic" panose="020B0502020202020204" charset="0"/>
                <a:cs typeface="Century Gothic" panose="020B0502020202020204" charset="0"/>
              </a:rPr>
              <a:t>✓  Base solide pour extensions futures</a:t>
            </a:r>
            <a:endParaRPr lang="en-US" sz="1800" dirty="0">
              <a:latin typeface="Century Gothic" panose="020B0502020202020204" charset="0"/>
              <a:cs typeface="Century Gothic" panose="020B050202020202020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06755" y="3825240"/>
            <a:ext cx="7008495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285750" indent="-285750" algn="ctr">
              <a:buFont typeface="Wingdings" panose="05000000000000000000" charset="0"/>
              <a:buChar char="Ø"/>
            </a:pPr>
            <a:r>
              <a:rPr lang="en-US" sz="1500" b="1" dirty="0">
                <a:solidFill>
                  <a:schemeClr val="bg1"/>
                </a:solidFill>
                <a:latin typeface="Century Gothic" panose="020B0502020202020204" charset="0"/>
                <a:cs typeface="Century Gothic" panose="020B0502020202020204" charset="0"/>
              </a:rPr>
              <a:t>La SVD démontre qu'une approche purement mathématique</a:t>
            </a:r>
            <a:endParaRPr lang="en-US" sz="1500" dirty="0">
              <a:solidFill>
                <a:schemeClr val="bg1"/>
              </a:solidFill>
              <a:latin typeface="Century Gothic" panose="020B0502020202020204" charset="0"/>
              <a:cs typeface="Century Gothic" panose="020B0502020202020204" charset="0"/>
            </a:endParaRPr>
          </a:p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Century Gothic" panose="020B0502020202020204" charset="0"/>
                <a:cs typeface="Century Gothic" panose="020B0502020202020204" charset="0"/>
              </a:rPr>
              <a:t>peut rivaliser avec des méthodes sophistiquées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220599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altLang="en-US" sz="4400" b="1" dirty="0">
                <a:solidFill>
                  <a:srgbClr val="FFFFFF"/>
                </a:solidFill>
                <a:latin typeface="Century Gothic" panose="020B0502020202020204" charset="0"/>
                <a:ea typeface="Calibri" panose="020F0502020204030204" pitchFamily="34" charset="-122"/>
                <a:cs typeface="Century Gothic" panose="020B0502020202020204" charset="0"/>
              </a:rPr>
              <a:t>MERCI A TOUS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08,&quot;left&quot;:72,&quot;top&quot;:208.8,&quot;width&quot;:561.6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08,&quot;left&quot;:72,&quot;top&quot;:208.8,&quot;width&quot;:561.6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08,&quot;left&quot;:72,&quot;top&quot;:208.8,&quot;width&quot;:561.6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08,&quot;left&quot;:72,&quot;top&quot;:208.8,&quot;width&quot;:561.6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08,&quot;left&quot;:72,&quot;top&quot;:208.8,&quot;width&quot;:561.6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08,&quot;left&quot;:72,&quot;top&quot;:208.8,&quot;width&quot;:561.6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08,&quot;left&quot;:72,&quot;top&quot;:208.8,&quot;width&quot;:561.6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08,&quot;left&quot;:72,&quot;top&quot;:208.8,&quot;width&quot;:561.6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08,&quot;left&quot;:72,&quot;top&quot;:208.8,&quot;width&quot;:561.6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1.6,&quot;left&quot;:468,&quot;top&quot;:144,&quot;width&quot;:201.6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1.6,&quot;left&quot;:468,&quot;top&quot;:144,&quot;width&quot;:201.6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1.6,&quot;left&quot;:468,&quot;top&quot;:144,&quot;width&quot;:201.6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1.6,&quot;left&quot;:468,&quot;top&quot;:144,&quot;width&quot;:201.6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1.6,&quot;left&quot;:468,&quot;top&quot;:144,&quot;width&quot;:201.6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1.6,&quot;left&quot;:468,&quot;top&quot;:144,&quot;width&quot;:201.6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1.6,&quot;left&quot;:468,&quot;top&quot;:144,&quot;width&quot;:201.6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1.6,&quot;left&quot;:468,&quot;top&quot;:144,&quot;width&quot;:201.6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1.6,&quot;left&quot;:468,&quot;top&quot;:144,&quot;width&quot;:201.6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0,&quot;left&quot;:108.6,&quot;top&quot;:144,&quot;width&quot;:504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0,&quot;left&quot;:108.6,&quot;top&quot;:144,&quot;width&quot;:504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0,&quot;left&quot;:108.6,&quot;top&quot;:144,&quot;width&quot;:504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0,&quot;left&quot;:108.6,&quot;top&quot;:144,&quot;width&quot;:504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398</Words>
  <Application>Microsoft Office PowerPoint</Application>
  <PresentationFormat>On-screen Show (16:9)</PresentationFormat>
  <Paragraphs>111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Cambria</vt:lpstr>
      <vt:lpstr>Century Gothic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Débruitage d'Image par SVD Tronquée</dc:title>
  <dc:subject>PptxGenJS Presentation</dc:subject>
  <dc:creator>Équipe M1 - Traitement Numérique des Images</dc:creator>
  <cp:lastModifiedBy>vina raharitsifa</cp:lastModifiedBy>
  <cp:revision>6</cp:revision>
  <dcterms:created xsi:type="dcterms:W3CDTF">2026-01-30T13:15:00Z</dcterms:created>
  <dcterms:modified xsi:type="dcterms:W3CDTF">2026-01-30T17:24:06Z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F04A6667CCBA4C8EB2A2E041B3897A8C_12</vt:lpwstr>
  </property>
  <property fmtid="{D5CDD505-2E9C-101B-9397-08002B2CF9AE}" pid="3" name="KSOProductBuildVer">
    <vt:lpwstr>1036-12.2.0.23196</vt:lpwstr>
  </property>
</Properties>
</file>